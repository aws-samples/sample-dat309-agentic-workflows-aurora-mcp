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Helvetica Neue"/>
              </a:rPr>
              <a:t>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5A5"/>
                </a:solidFill>
                <a:latin typeface="Helvetica Neue"/>
              </a:rPr>
              <a:t>1 /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430000" cy="1097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B95A5"/>
                </a:solidFill>
                <a:latin typeface="Helvetica Neue"/>
              </a:rPr>
              <a:t>Meridian — DAT309 workshop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5"/>
                </a:solidFill>
                <a:latin typeface="Helvetica Neue"/>
              </a:rPr>
              <a:t>Plan. Fly. Land.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E1B2C"/>
                </a:solidFill>
                <a:latin typeface="Helvetica Neue"/>
              </a:rPr>
              <a:t>ClickShop  →  Meridian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 Neue"/>
              </a:rPr>
              <a:t>Why we pivoted the DAT309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371600" cy="109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Helvetica Neue"/>
              </a:rPr>
              <a:t>The abstract promises 5 things.  ClickShop showed 2.  Meridian shows 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430000" cy="420624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880360"/>
            <a:ext cx="7132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Helvetica Neue"/>
              </a:rPr>
              <a:t>Abstract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88036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Helvetica Neue"/>
              </a:rPr>
              <a:t>ClickShop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288036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Helvetica Neue"/>
              </a:rPr>
              <a:t>Meridian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9544"/>
            <a:ext cx="11430000" cy="420624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300984"/>
            <a:ext cx="7132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1B2C"/>
                </a:solidFill>
                <a:latin typeface="Helvetica Neue"/>
              </a:rPr>
              <a:t>Aurora +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27355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273551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721607"/>
            <a:ext cx="7132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1B2C"/>
                </a:solidFill>
                <a:latin typeface="Helvetica Neue"/>
              </a:rPr>
              <a:t>Bedrock agents on live relational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694176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694176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50791"/>
            <a:ext cx="11430000" cy="420624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142231"/>
            <a:ext cx="7132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1B2C"/>
                </a:solidFill>
                <a:latin typeface="Helvetica Neue"/>
              </a:rPr>
              <a:t>MCP servers for contextual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11480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95A5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411480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562855"/>
            <a:ext cx="7132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1B2C"/>
                </a:solidFill>
                <a:latin typeface="Helvetica Neue"/>
              </a:rPr>
              <a:t>Securely connect LLM agents to Aurora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53542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95A5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453542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11430000" cy="420624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983479"/>
            <a:ext cx="7132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1B2C"/>
                </a:solidFill>
                <a:latin typeface="Helvetica Neue"/>
              </a:rPr>
              <a:t>AgentCore + LangGraph + Strands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95604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95A5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495604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824D"/>
                </a:solidFill>
                <a:latin typeface="Helvetica Neue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41264"/>
            <a:ext cx="1371600" cy="109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78424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 Neue"/>
              </a:rPr>
              <a:t>Travel is also a better foil for the agentic story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44184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1B2C"/>
                </a:solidFill>
                <a:latin typeface="Helvetica Neue"/>
              </a:rPr>
              <a:t>a returning traveler with preferences, allergies, and prior trips  &gt;  a shopping cart.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Helvetica Neue"/>
              </a:rPr>
              <a:t>THE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5A5"/>
                </a:solidFill>
                <a:latin typeface="Helvetica Neue"/>
              </a:rPr>
              <a:t>2 /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430000" cy="1097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B95A5"/>
                </a:solidFill>
                <a:latin typeface="Helvetica Neue"/>
              </a:rPr>
              <a:t>Meridian — DAT309 workshop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5"/>
                </a:solidFill>
                <a:latin typeface="Helvetica Neue"/>
              </a:rPr>
              <a:t>Plan. Fly. Land.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E1B2C"/>
                </a:solidFill>
                <a:latin typeface="Helvetica Neue"/>
              </a:rPr>
              <a:t>Meridian — the five-phase ladder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 Neue"/>
              </a:rPr>
              <a:t>Each phase adds exactly one capability on the same Aurora catalog.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0824"/>
            <a:ext cx="50292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F7F1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025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Helvetica Neue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9514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RDS Data API → trip_packages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002536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E3A8A"/>
                </a:solidFill>
                <a:latin typeface="Helvetica Neue"/>
              </a:rPr>
              <a:t>“City breaks” works  ·  “Romantic week in Europe” returns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642615"/>
            <a:ext cx="10515600" cy="1097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34056"/>
            <a:ext cx="502920" cy="502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9806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F7F1"/>
                </a:solidFill>
                <a:latin typeface="Helvetica Neu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7157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Helvetica Neue"/>
              </a:rPr>
              <a:t>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008375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postgres-mcp-server (public)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7157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0E7490"/>
                </a:solidFill>
                <a:latin typeface="Helvetica Neue"/>
              </a:rPr>
              <a:t>Same intent gap — interface change, not 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355848"/>
            <a:ext cx="10515600" cy="1097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47288"/>
            <a:ext cx="502920" cy="502920"/>
          </a:xfrm>
          <a:prstGeom prst="rect">
            <a:avLst/>
          </a:prstGeom>
          <a:solidFill>
            <a:srgbClr val="9A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1129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F7F1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429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Helvetica Neue"/>
              </a:rPr>
              <a:t>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72160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Cohere Embed v4 (1024d) + pgvector + tsvector  ·  Strands supervisor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2900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9A3F12"/>
                </a:solidFill>
                <a:latin typeface="Helvetica Neue"/>
              </a:rPr>
              <a:t>“Romantic week in Europe” now ranks correctly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069080"/>
            <a:ext cx="10515600" cy="1097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245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F7F1"/>
                </a:solidFill>
                <a:latin typeface="Helvetica Neu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1422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Helvetica Neue"/>
              </a:rPr>
              <a:t>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43484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ConciergeOrchestrator  ·  Aurora memory + RLS + audit  ·  AgentCore Memory &amp;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142232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21A8"/>
                </a:solidFill>
                <a:latin typeface="Helvetica Neue"/>
              </a:rPr>
              <a:t>Knows Alex &amp; Jordan, Tokyo Oct 12–19, shellfish allergy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4782312"/>
            <a:ext cx="10515600" cy="1097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73751"/>
            <a:ext cx="502920" cy="502920"/>
          </a:xfrm>
          <a:prstGeom prst="rect">
            <a:avLst/>
          </a:prstGeom>
          <a:solidFill>
            <a:srgbClr val="15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377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AF7F1"/>
                </a:solidFill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8554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1B2C"/>
                </a:solidFill>
                <a:latin typeface="Helvetica Neue"/>
              </a:rPr>
              <a:t>Orchestration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14807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LangGraph StateGraph  ·  PostgresSaver checkpoints in Aurora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855464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56B3D"/>
                </a:solidFill>
                <a:latin typeface="Helvetica Neue"/>
              </a:rPr>
              <a:t>classify → search / availability / recall → synthesize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15000"/>
            <a:ext cx="11430000" cy="7772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Helvetica Neue"/>
              </a:rPr>
              <a:t>Strands routes tools in Phases 3–4.  LangGraph owns control flow in Phase 5.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807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Custom meridian-memory MCP server lives alongside the public postgres-mcp-server.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